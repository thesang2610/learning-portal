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ectangle 5"/>
          <p:cNvSpPr/>
          <p:nvPr/>
        </p:nvSpPr>
        <p:spPr>
          <a:xfrm>
            <a:off x="1280160" y="1920240"/>
            <a:ext cx="9601200" cy="2651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3800" b="1">
                <a:solidFill>
                  <a:srgbClr val="1B4D8F"/>
                </a:solidFill>
                <a:latin typeface="Cambria"/>
              </a:rPr>
              <a:t>Báo cáo đồ án học phần</a:t>
            </a:r>
          </a:p>
          <a:p>
            <a:pPr algn="ctr">
              <a:spcAft>
                <a:spcPts val="600"/>
              </a:spcAft>
            </a:pPr>
            <a:r>
              <a:rPr sz="1200" b="0">
                <a:solidFill>
                  <a:srgbClr val="243142"/>
                </a:solidFill>
                <a:latin typeface="Cambria"/>
              </a:rPr>
              <a:t/>
            </a:r>
          </a:p>
          <a:p>
            <a:pPr algn="ctr">
              <a:spcAft>
                <a:spcPts val="600"/>
              </a:spcAft>
            </a:pPr>
            <a:r>
              <a:rPr sz="3200" b="1">
                <a:solidFill>
                  <a:srgbClr val="1B4D8F"/>
                </a:solidFill>
                <a:latin typeface="Cambria"/>
              </a:rPr>
              <a:t>Đề tài: Learning Portal – Cổng học trực tuyến</a:t>
            </a:r>
          </a:p>
          <a:p>
            <a:pPr algn="ctr">
              <a:spcAft>
                <a:spcPts val="600"/>
              </a:spcAft>
            </a:pPr>
            <a:r>
              <a:rPr sz="1200" b="0">
                <a:solidFill>
                  <a:srgbClr val="243142"/>
                </a:solidFill>
                <a:latin typeface="Cambria"/>
              </a:rPr>
              <a:t/>
            </a:r>
          </a:p>
          <a:p>
            <a:pPr algn="ctr">
              <a:spcAft>
                <a:spcPts val="600"/>
              </a:spcAft>
            </a:pPr>
            <a:r>
              <a:rPr sz="2800" b="1">
                <a:solidFill>
                  <a:srgbClr val="1B4D8F"/>
                </a:solidFill>
                <a:latin typeface="Cambria"/>
              </a:rPr>
              <a:t>Nhóm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SVTH</a:t>
            </a:r>
          </a:p>
        </p:txBody>
      </p:sp>
      <p:sp>
        <p:nvSpPr>
          <p:cNvPr id="7" name="Rectangle 6"/>
          <p:cNvSpPr/>
          <p:nvPr/>
        </p:nvSpPr>
        <p:spPr>
          <a:xfrm>
            <a:off x="2011680" y="2286000"/>
            <a:ext cx="8229600" cy="23774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2400" b="0">
                <a:solidFill>
                  <a:srgbClr val="243142"/>
                </a:solidFill>
                <a:latin typeface="Segoe UI"/>
              </a:rPr>
              <a:t>Nguyễn Thế Sang      –  Nhóm trưởng, Fullstack</a:t>
            </a:r>
          </a:p>
          <a:p>
            <a:pPr algn="l">
              <a:spcAft>
                <a:spcPts val="600"/>
              </a:spcAft>
            </a:pPr>
            <a:r>
              <a:rPr sz="2400" b="0">
                <a:solidFill>
                  <a:srgbClr val="243142"/>
                </a:solidFill>
                <a:latin typeface="Segoe UI"/>
              </a:rPr>
              <a:t>Nguyễn Thanh Sang  –  Fullstack</a:t>
            </a:r>
          </a:p>
          <a:p>
            <a:pPr algn="l">
              <a:spcAft>
                <a:spcPts val="600"/>
              </a:spcAft>
            </a:pPr>
            <a:r>
              <a:rPr sz="2400" b="0">
                <a:solidFill>
                  <a:srgbClr val="243142"/>
                </a:solidFill>
                <a:latin typeface="Segoe UI"/>
              </a:rPr>
              <a:t>Thái Thanh Vũ           –  Frontend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Bối cảnh &amp; Mục tiêu đề tài</a:t>
            </a:r>
          </a:p>
        </p:txBody>
      </p:sp>
      <p:sp>
        <p:nvSpPr>
          <p:cNvPr id="7" name="Rounded Rectangle 6"/>
          <p:cNvSpPr/>
          <p:nvPr/>
        </p:nvSpPr>
        <p:spPr>
          <a:xfrm>
            <a:off x="2697480" y="1965960"/>
            <a:ext cx="1371600" cy="566928"/>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200" b="1">
                <a:solidFill>
                  <a:srgbClr val="1B4D8F"/>
                </a:solidFill>
                <a:latin typeface="Segoe UI"/>
              </a:rPr>
              <a:t>01</a:t>
            </a:r>
          </a:p>
        </p:txBody>
      </p:sp>
      <p:sp>
        <p:nvSpPr>
          <p:cNvPr id="8" name="Rounded Rectangle 7"/>
          <p:cNvSpPr/>
          <p:nvPr/>
        </p:nvSpPr>
        <p:spPr>
          <a:xfrm>
            <a:off x="8138160" y="1965960"/>
            <a:ext cx="1371600" cy="566928"/>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200" b="1">
                <a:solidFill>
                  <a:srgbClr val="1B4D8F"/>
                </a:solidFill>
                <a:latin typeface="Segoe UI"/>
              </a:rPr>
              <a:t>02</a:t>
            </a:r>
          </a:p>
        </p:txBody>
      </p:sp>
      <p:sp>
        <p:nvSpPr>
          <p:cNvPr id="9" name="Rectangle 8"/>
          <p:cNvSpPr/>
          <p:nvPr/>
        </p:nvSpPr>
        <p:spPr>
          <a:xfrm>
            <a:off x="822960" y="2606040"/>
            <a:ext cx="51206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000" b="1">
                <a:solidFill>
                  <a:srgbClr val="1B4D8F"/>
                </a:solidFill>
                <a:latin typeface="Segoe UI"/>
              </a:rPr>
              <a:t>Lý do chọn đề tài</a:t>
            </a:r>
          </a:p>
        </p:txBody>
      </p:sp>
      <p:sp>
        <p:nvSpPr>
          <p:cNvPr id="10" name="Rectangle 9"/>
          <p:cNvSpPr/>
          <p:nvPr/>
        </p:nvSpPr>
        <p:spPr>
          <a:xfrm>
            <a:off x="6263640" y="2606040"/>
            <a:ext cx="51206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000" b="1">
                <a:solidFill>
                  <a:srgbClr val="1B4D8F"/>
                </a:solidFill>
                <a:latin typeface="Segoe UI"/>
              </a:rPr>
              <a:t>Mục tiêu cốt lõi</a:t>
            </a:r>
          </a:p>
        </p:txBody>
      </p:sp>
      <p:sp>
        <p:nvSpPr>
          <p:cNvPr id="11" name="Rounded Rectangle 10"/>
          <p:cNvSpPr/>
          <p:nvPr/>
        </p:nvSpPr>
        <p:spPr>
          <a:xfrm>
            <a:off x="822960" y="3108960"/>
            <a:ext cx="5120640" cy="265176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marL="177800" indent="-177800">
              <a:spcAft>
                <a:spcPts val="600"/>
              </a:spcAft>
            </a:pPr>
            <a:r>
              <a:rPr sz="1500" b="0">
                <a:solidFill>
                  <a:srgbClr val="243142"/>
                </a:solidFill>
                <a:latin typeface="Segoe UI"/>
              </a:rPr>
              <a:t>•  Các nhóm dạy học đang ghép nhiều công cụ rời: video trên Drive, đề thi trên Forms, học phí trên Excel.</a:t>
            </a:r>
          </a:p>
          <a:p>
            <a:pPr algn="l" marL="177800" indent="-177800">
              <a:spcAft>
                <a:spcPts val="600"/>
              </a:spcAft>
            </a:pPr>
            <a:r>
              <a:rPr sz="1500" b="0">
                <a:solidFill>
                  <a:srgbClr val="243142"/>
                </a:solidFill>
                <a:latin typeface="Segoe UI"/>
              </a:rPr>
              <a:t>•  Link video lọt ra ngoài là ai cũng xem được, kể cả người chưa ghi danh.</a:t>
            </a:r>
          </a:p>
          <a:p>
            <a:pPr algn="l" marL="177800" indent="-177800">
              <a:spcAft>
                <a:spcPts val="600"/>
              </a:spcAft>
            </a:pPr>
            <a:r>
              <a:rPr sz="1500" b="0">
                <a:solidFill>
                  <a:srgbClr val="243142"/>
                </a:solidFill>
                <a:latin typeface="Segoe UI"/>
              </a:rPr>
              <a:t>•  Tiến độ, điểm và thanh toán nằm ba nơi nên không tổng hợp được; chứng nhận cấp ra không xác minh được.</a:t>
            </a:r>
          </a:p>
        </p:txBody>
      </p:sp>
      <p:sp>
        <p:nvSpPr>
          <p:cNvPr id="12" name="Rounded Rectangle 11"/>
          <p:cNvSpPr/>
          <p:nvPr/>
        </p:nvSpPr>
        <p:spPr>
          <a:xfrm>
            <a:off x="6263640" y="3108960"/>
            <a:ext cx="5120640" cy="265176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marL="177800" indent="-177800">
              <a:spcAft>
                <a:spcPts val="600"/>
              </a:spcAft>
            </a:pPr>
            <a:r>
              <a:rPr sz="1500" b="0">
                <a:solidFill>
                  <a:srgbClr val="243142"/>
                </a:solidFill>
                <a:latin typeface="Segoe UI"/>
              </a:rPr>
              <a:t>•  Gom trọn vòng đời khóa học về một hệ thống duy nhất.</a:t>
            </a:r>
          </a:p>
          <a:p>
            <a:pPr algn="l" marL="177800" indent="-177800">
              <a:spcAft>
                <a:spcPts val="600"/>
              </a:spcAft>
            </a:pPr>
            <a:r>
              <a:rPr sz="1500" b="0">
                <a:solidFill>
                  <a:srgbClr val="243142"/>
                </a:solidFill>
                <a:latin typeface="Segoe UI"/>
              </a:rPr>
              <a:t>•  Một cổng kiểm tra quyền xem nội dung duy nhất ở tầng API.</a:t>
            </a:r>
          </a:p>
          <a:p>
            <a:pPr algn="l" marL="177800" indent="-177800">
              <a:spcAft>
                <a:spcPts val="600"/>
              </a:spcAft>
            </a:pPr>
            <a:r>
              <a:rPr sz="1500" b="0">
                <a:solidFill>
                  <a:srgbClr val="243142"/>
                </a:solidFill>
                <a:latin typeface="Segoe UI"/>
              </a:rPr>
              <a:t>•  Trắc nghiệm chấm tự động và thanh toán có đối soát.</a:t>
            </a:r>
          </a:p>
          <a:p>
            <a:pPr algn="l" marL="177800" indent="-177800">
              <a:spcAft>
                <a:spcPts val="600"/>
              </a:spcAft>
            </a:pPr>
            <a:r>
              <a:rPr sz="1500" b="0">
                <a:solidFill>
                  <a:srgbClr val="243142"/>
                </a:solidFill>
                <a:latin typeface="Segoe UI"/>
              </a:rPr>
              <a:t>•  Chứng nhận kèm mã tra cứu công khai.</a:t>
            </a:r>
          </a:p>
          <a:p>
            <a:pPr algn="l" marL="177800" indent="-177800">
              <a:spcAft>
                <a:spcPts val="600"/>
              </a:spcAft>
            </a:pPr>
            <a:r>
              <a:rPr sz="1500" b="0">
                <a:solidFill>
                  <a:srgbClr val="243142"/>
                </a:solidFill>
                <a:latin typeface="Segoe UI"/>
              </a:rPr>
              <a:t>•  Trợ lý AI hỏi đáp ngay trong trang học.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Công nghệ sử dụng</a:t>
            </a:r>
          </a:p>
        </p:txBody>
      </p:sp>
      <p:sp>
        <p:nvSpPr>
          <p:cNvPr id="7" name="Rectangle 6"/>
          <p:cNvSpPr/>
          <p:nvPr/>
        </p:nvSpPr>
        <p:spPr>
          <a:xfrm>
            <a:off x="822960" y="2148840"/>
            <a:ext cx="34747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200" b="1">
                <a:solidFill>
                  <a:srgbClr val="1B4D8F"/>
                </a:solidFill>
                <a:latin typeface="Segoe UI"/>
              </a:rPr>
              <a:t>Giao diện</a:t>
            </a:r>
          </a:p>
        </p:txBody>
      </p:sp>
      <p:sp>
        <p:nvSpPr>
          <p:cNvPr id="8" name="Rounded Rectangle 7"/>
          <p:cNvSpPr/>
          <p:nvPr/>
        </p:nvSpPr>
        <p:spPr>
          <a:xfrm>
            <a:off x="822960" y="2697480"/>
            <a:ext cx="3474720" cy="23774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marL="177800" indent="-177800">
              <a:spcAft>
                <a:spcPts val="600"/>
              </a:spcAft>
            </a:pPr>
            <a:r>
              <a:rPr sz="1800" b="0">
                <a:solidFill>
                  <a:srgbClr val="243142"/>
                </a:solidFill>
                <a:latin typeface="Segoe UI"/>
              </a:rPr>
              <a:t>•  Next.js 16</a:t>
            </a:r>
          </a:p>
          <a:p>
            <a:pPr algn="l" marL="177800" indent="-177800">
              <a:spcAft>
                <a:spcPts val="600"/>
              </a:spcAft>
            </a:pPr>
            <a:r>
              <a:rPr sz="1800" b="0">
                <a:solidFill>
                  <a:srgbClr val="243142"/>
                </a:solidFill>
                <a:latin typeface="Segoe UI"/>
              </a:rPr>
              <a:t>•  React 19</a:t>
            </a:r>
          </a:p>
          <a:p>
            <a:pPr algn="l" marL="177800" indent="-177800">
              <a:spcAft>
                <a:spcPts val="600"/>
              </a:spcAft>
            </a:pPr>
            <a:r>
              <a:rPr sz="1800" b="0">
                <a:solidFill>
                  <a:srgbClr val="243142"/>
                </a:solidFill>
                <a:latin typeface="Segoe UI"/>
              </a:rPr>
              <a:t>•  TypeScript</a:t>
            </a:r>
          </a:p>
          <a:p>
            <a:pPr algn="l" marL="177800" indent="-177800">
              <a:spcAft>
                <a:spcPts val="600"/>
              </a:spcAft>
            </a:pPr>
            <a:r>
              <a:rPr sz="1800" b="0">
                <a:solidFill>
                  <a:srgbClr val="243142"/>
                </a:solidFill>
                <a:latin typeface="Segoe UI"/>
              </a:rPr>
              <a:t>•  Tailwind CSS v4</a:t>
            </a:r>
          </a:p>
        </p:txBody>
      </p:sp>
      <p:sp>
        <p:nvSpPr>
          <p:cNvPr id="9" name="Rectangle 8"/>
          <p:cNvSpPr/>
          <p:nvPr/>
        </p:nvSpPr>
        <p:spPr>
          <a:xfrm>
            <a:off x="4663440" y="2148840"/>
            <a:ext cx="34747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200" b="1">
                <a:solidFill>
                  <a:srgbClr val="1B4D8F"/>
                </a:solidFill>
                <a:latin typeface="Segoe UI"/>
              </a:rPr>
              <a:t>Máy chủ</a:t>
            </a:r>
          </a:p>
        </p:txBody>
      </p:sp>
      <p:sp>
        <p:nvSpPr>
          <p:cNvPr id="10" name="Rounded Rectangle 9"/>
          <p:cNvSpPr/>
          <p:nvPr/>
        </p:nvSpPr>
        <p:spPr>
          <a:xfrm>
            <a:off x="4663440" y="2697480"/>
            <a:ext cx="3474720" cy="23774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marL="177800" indent="-177800">
              <a:spcAft>
                <a:spcPts val="600"/>
              </a:spcAft>
            </a:pPr>
            <a:r>
              <a:rPr sz="1800" b="0">
                <a:solidFill>
                  <a:srgbClr val="243142"/>
                </a:solidFill>
                <a:latin typeface="Segoe UI"/>
              </a:rPr>
              <a:t>•  Node.js</a:t>
            </a:r>
          </a:p>
          <a:p>
            <a:pPr algn="l" marL="177800" indent="-177800">
              <a:spcAft>
                <a:spcPts val="600"/>
              </a:spcAft>
            </a:pPr>
            <a:r>
              <a:rPr sz="1800" b="0">
                <a:solidFill>
                  <a:srgbClr val="243142"/>
                </a:solidFill>
                <a:latin typeface="Segoe UI"/>
              </a:rPr>
              <a:t>•  Express 5</a:t>
            </a:r>
          </a:p>
          <a:p>
            <a:pPr algn="l" marL="177800" indent="-177800">
              <a:spcAft>
                <a:spcPts val="600"/>
              </a:spcAft>
            </a:pPr>
            <a:r>
              <a:rPr sz="1800" b="0">
                <a:solidFill>
                  <a:srgbClr val="243142"/>
                </a:solidFill>
                <a:latin typeface="Segoe UI"/>
              </a:rPr>
              <a:t>•  Mongoose 9</a:t>
            </a:r>
          </a:p>
          <a:p>
            <a:pPr algn="l" marL="177800" indent="-177800">
              <a:spcAft>
                <a:spcPts val="600"/>
              </a:spcAft>
            </a:pPr>
            <a:r>
              <a:rPr sz="1800" b="0">
                <a:solidFill>
                  <a:srgbClr val="243142"/>
                </a:solidFill>
                <a:latin typeface="Segoe UI"/>
              </a:rPr>
              <a:t>•  JWT + bcrypt</a:t>
            </a:r>
          </a:p>
        </p:txBody>
      </p:sp>
      <p:sp>
        <p:nvSpPr>
          <p:cNvPr id="11" name="Rectangle 10"/>
          <p:cNvSpPr/>
          <p:nvPr/>
        </p:nvSpPr>
        <p:spPr>
          <a:xfrm>
            <a:off x="8503920" y="2148840"/>
            <a:ext cx="34747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200" b="1">
                <a:solidFill>
                  <a:srgbClr val="1B4D8F"/>
                </a:solidFill>
                <a:latin typeface="Segoe UI"/>
              </a:rPr>
              <a:t>Cơ sở dữ liệu</a:t>
            </a:r>
          </a:p>
        </p:txBody>
      </p:sp>
      <p:sp>
        <p:nvSpPr>
          <p:cNvPr id="12" name="Rounded Rectangle 11"/>
          <p:cNvSpPr/>
          <p:nvPr/>
        </p:nvSpPr>
        <p:spPr>
          <a:xfrm>
            <a:off x="8503920" y="2697480"/>
            <a:ext cx="3474720" cy="23774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marL="177800" indent="-177800">
              <a:spcAft>
                <a:spcPts val="600"/>
              </a:spcAft>
            </a:pPr>
            <a:r>
              <a:rPr sz="1800" b="0">
                <a:solidFill>
                  <a:srgbClr val="243142"/>
                </a:solidFill>
                <a:latin typeface="Segoe UI"/>
              </a:rPr>
              <a:t>•  MongoDB Atlas</a:t>
            </a:r>
          </a:p>
          <a:p>
            <a:pPr algn="l" marL="177800" indent="-177800">
              <a:spcAft>
                <a:spcPts val="600"/>
              </a:spcAft>
            </a:pPr>
            <a:r>
              <a:rPr sz="1800" b="0">
                <a:solidFill>
                  <a:srgbClr val="243142"/>
                </a:solidFill>
                <a:latin typeface="Segoe UI"/>
              </a:rPr>
              <a:t>•  19 nhóm dữ liệu</a:t>
            </a:r>
          </a:p>
          <a:p>
            <a:pPr algn="l" marL="177800" indent="-177800">
              <a:spcAft>
                <a:spcPts val="600"/>
              </a:spcAft>
            </a:pPr>
            <a:r>
              <a:rPr sz="1800" b="0">
                <a:solidFill>
                  <a:srgbClr val="243142"/>
                </a:solidFill>
                <a:latin typeface="Segoe UI"/>
              </a:rPr>
              <a:t>•  Chỉ mục tìm kiếm</a:t>
            </a:r>
          </a:p>
          <a:p>
            <a:pPr algn="l" marL="177800" indent="-177800">
              <a:spcAft>
                <a:spcPts val="600"/>
              </a:spcAft>
            </a:pPr>
            <a:r>
              <a:rPr sz="1800" b="0">
                <a:solidFill>
                  <a:srgbClr val="243142"/>
                </a:solidFill>
                <a:latin typeface="Segoe UI"/>
              </a:rPr>
              <a:t>•  Chỉ mục TTL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Dịch vụ ngoài &amp; công cụ</a:t>
            </a:r>
          </a:p>
        </p:txBody>
      </p:sp>
      <p:sp>
        <p:nvSpPr>
          <p:cNvPr id="7" name="Rounded Rectangle 6"/>
          <p:cNvSpPr/>
          <p:nvPr/>
        </p:nvSpPr>
        <p:spPr>
          <a:xfrm>
            <a:off x="822960" y="2148840"/>
            <a:ext cx="5212080" cy="12344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Cloudinary</a:t>
            </a:r>
          </a:p>
          <a:p>
            <a:pPr algn="l">
              <a:spcAft>
                <a:spcPts val="600"/>
              </a:spcAft>
            </a:pPr>
            <a:r>
              <a:rPr sz="1500" b="0">
                <a:solidFill>
                  <a:srgbClr val="243142"/>
                </a:solidFill>
                <a:latin typeface="Segoe UI"/>
              </a:rPr>
              <a:t>Lưu ảnh đại diện, ảnh khóa học và tệp tài liệu.</a:t>
            </a:r>
          </a:p>
        </p:txBody>
      </p:sp>
      <p:sp>
        <p:nvSpPr>
          <p:cNvPr id="8" name="Rounded Rectangle 7"/>
          <p:cNvSpPr/>
          <p:nvPr/>
        </p:nvSpPr>
        <p:spPr>
          <a:xfrm>
            <a:off x="6400800" y="2148840"/>
            <a:ext cx="5212080" cy="12344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Google OAuth 2.0</a:t>
            </a:r>
          </a:p>
          <a:p>
            <a:pPr algn="l">
              <a:spcAft>
                <a:spcPts val="600"/>
              </a:spcAft>
            </a:pPr>
            <a:r>
              <a:rPr sz="1500" b="0">
                <a:solidFill>
                  <a:srgbClr val="243142"/>
                </a:solidFill>
                <a:latin typeface="Segoe UI"/>
              </a:rPr>
              <a:t>Đăng nhập bằng tài khoản Google.</a:t>
            </a:r>
          </a:p>
        </p:txBody>
      </p:sp>
      <p:sp>
        <p:nvSpPr>
          <p:cNvPr id="9" name="Rounded Rectangle 8"/>
          <p:cNvSpPr/>
          <p:nvPr/>
        </p:nvSpPr>
        <p:spPr>
          <a:xfrm>
            <a:off x="822960" y="3611880"/>
            <a:ext cx="5212080" cy="12344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Mô hình ngôn ngữ lớn</a:t>
            </a:r>
          </a:p>
          <a:p>
            <a:pPr algn="l">
              <a:spcAft>
                <a:spcPts val="600"/>
              </a:spcAft>
            </a:pPr>
            <a:r>
              <a:rPr sz="1500" b="0">
                <a:solidFill>
                  <a:srgbClr val="243142"/>
                </a:solidFill>
                <a:latin typeface="Segoe UI"/>
              </a:rPr>
              <a:t>Gemini, Groq, OpenAI hoặc Claude – chọn bằng biến môi trường.</a:t>
            </a:r>
          </a:p>
        </p:txBody>
      </p:sp>
      <p:sp>
        <p:nvSpPr>
          <p:cNvPr id="10" name="Rounded Rectangle 9"/>
          <p:cNvSpPr/>
          <p:nvPr/>
        </p:nvSpPr>
        <p:spPr>
          <a:xfrm>
            <a:off x="6400800" y="3611880"/>
            <a:ext cx="5212080" cy="12344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OpenAPI + Swagger UI</a:t>
            </a:r>
          </a:p>
          <a:p>
            <a:pPr algn="l">
              <a:spcAft>
                <a:spcPts val="600"/>
              </a:spcAft>
            </a:pPr>
            <a:r>
              <a:rPr sz="1500" b="0">
                <a:solidFill>
                  <a:srgbClr val="243142"/>
                </a:solidFill>
                <a:latin typeface="Segoe UI"/>
              </a:rPr>
              <a:t>Trang tài liệu 139 đường dẫn API công khai.</a:t>
            </a:r>
          </a:p>
        </p:txBody>
      </p:sp>
      <p:sp>
        <p:nvSpPr>
          <p:cNvPr id="11" name="Rounded Rectangle 10"/>
          <p:cNvSpPr/>
          <p:nvPr/>
        </p:nvSpPr>
        <p:spPr>
          <a:xfrm>
            <a:off x="822960" y="5074920"/>
            <a:ext cx="5212080" cy="12344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GitHub Actions</a:t>
            </a:r>
          </a:p>
          <a:p>
            <a:pPr algn="l">
              <a:spcAft>
                <a:spcPts val="600"/>
              </a:spcAft>
            </a:pPr>
            <a:r>
              <a:rPr sz="1500" b="0">
                <a:solidFill>
                  <a:srgbClr val="243142"/>
                </a:solidFill>
                <a:latin typeface="Segoe UI"/>
              </a:rPr>
              <a:t>Chạy 256 kiểm thử đơn vị mỗi lần đẩy mã.</a:t>
            </a:r>
          </a:p>
        </p:txBody>
      </p:sp>
      <p:sp>
        <p:nvSpPr>
          <p:cNvPr id="12" name="Rounded Rectangle 11"/>
          <p:cNvSpPr/>
          <p:nvPr/>
        </p:nvSpPr>
        <p:spPr>
          <a:xfrm>
            <a:off x="6400800" y="5074920"/>
            <a:ext cx="5212080" cy="12344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Vercel</a:t>
            </a:r>
          </a:p>
          <a:p>
            <a:pPr algn="l">
              <a:spcAft>
                <a:spcPts val="600"/>
              </a:spcAft>
            </a:pPr>
            <a:r>
              <a:rPr sz="1500" b="0">
                <a:solidFill>
                  <a:srgbClr val="243142"/>
                </a:solidFill>
                <a:latin typeface="Segoe UI"/>
              </a:rPr>
              <a:t>Triển khai cả giao diện và máy chủ lên Internet.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Kiến trúc hệ thống</a:t>
            </a:r>
          </a:p>
        </p:txBody>
      </p:sp>
      <p:sp>
        <p:nvSpPr>
          <p:cNvPr id="7" name="Rectangle 6"/>
          <p:cNvSpPr/>
          <p:nvPr/>
        </p:nvSpPr>
        <p:spPr>
          <a:xfrm>
            <a:off x="822960" y="2103120"/>
            <a:ext cx="6400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2000" b="1">
                <a:solidFill>
                  <a:srgbClr val="1B4D8F"/>
                </a:solidFill>
                <a:latin typeface="Segoe UI"/>
              </a:rPr>
              <a:t>Mô hình client – server tách rời</a:t>
            </a:r>
          </a:p>
        </p:txBody>
      </p:sp>
      <p:sp>
        <p:nvSpPr>
          <p:cNvPr id="8" name="Rounded Rectangle 7"/>
          <p:cNvSpPr/>
          <p:nvPr/>
        </p:nvSpPr>
        <p:spPr>
          <a:xfrm>
            <a:off x="822960" y="2606040"/>
            <a:ext cx="6400800" cy="356616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600"/>
              </a:spcAft>
            </a:pPr>
            <a:r>
              <a:rPr sz="1600" b="1">
                <a:solidFill>
                  <a:srgbClr val="1B4D8F"/>
                </a:solidFill>
                <a:latin typeface="Segoe UI"/>
              </a:rPr>
              <a:t>Giao diện:</a:t>
            </a:r>
          </a:p>
          <a:p>
            <a:pPr algn="l">
              <a:spcAft>
                <a:spcPts val="600"/>
              </a:spcAft>
            </a:pPr>
            <a:r>
              <a:rPr sz="1500" b="0">
                <a:solidFill>
                  <a:srgbClr val="243142"/>
                </a:solidFill>
                <a:latin typeface="Segoe UI"/>
              </a:rPr>
              <a:t>   Next.js kết xuất phía máy chủ cho trang công khai, chia khu vực theo vai trò.</a:t>
            </a:r>
          </a:p>
          <a:p>
            <a:pPr algn="l">
              <a:spcAft>
                <a:spcPts val="600"/>
              </a:spcAft>
            </a:pPr>
            <a:r>
              <a:rPr sz="1600" b="1">
                <a:solidFill>
                  <a:srgbClr val="1B4D8F"/>
                </a:solidFill>
                <a:latin typeface="Segoe UI"/>
              </a:rPr>
              <a:t>Máy chủ:</a:t>
            </a:r>
          </a:p>
          <a:p>
            <a:pPr algn="l">
              <a:spcAft>
                <a:spcPts val="600"/>
              </a:spcAft>
            </a:pPr>
            <a:r>
              <a:rPr sz="1500" b="0">
                <a:solidFill>
                  <a:srgbClr val="243142"/>
                </a:solidFill>
                <a:latin typeface="Segoe UI"/>
              </a:rPr>
              <a:t>   REST API trên Express 5, xử lý toàn bộ nghiệp vụ và phân quyền.</a:t>
            </a:r>
          </a:p>
          <a:p>
            <a:pPr algn="l">
              <a:spcAft>
                <a:spcPts val="600"/>
              </a:spcAft>
            </a:pPr>
            <a:r>
              <a:rPr sz="1600" b="1">
                <a:solidFill>
                  <a:srgbClr val="1B4D8F"/>
                </a:solidFill>
                <a:latin typeface="Segoe UI"/>
              </a:rPr>
              <a:t>Lưu trữ:</a:t>
            </a:r>
          </a:p>
          <a:p>
            <a:pPr algn="l">
              <a:spcAft>
                <a:spcPts val="600"/>
              </a:spcAft>
            </a:pPr>
            <a:r>
              <a:rPr sz="1500" b="0">
                <a:solidFill>
                  <a:srgbClr val="243142"/>
                </a:solidFill>
                <a:latin typeface="Segoe UI"/>
              </a:rPr>
              <a:t>   MongoDB Atlas dạng tài liệu, không phải JOIN nhiều bảng.</a:t>
            </a:r>
          </a:p>
          <a:p>
            <a:pPr algn="l">
              <a:spcAft>
                <a:spcPts val="600"/>
              </a:spcAft>
            </a:pPr>
            <a:r>
              <a:rPr sz="1600" b="1">
                <a:solidFill>
                  <a:srgbClr val="1B4D8F"/>
                </a:solidFill>
                <a:latin typeface="Segoe UI"/>
              </a:rPr>
              <a:t>Xác thực:</a:t>
            </a:r>
          </a:p>
          <a:p>
            <a:pPr algn="l">
              <a:spcAft>
                <a:spcPts val="600"/>
              </a:spcAft>
            </a:pPr>
            <a:r>
              <a:rPr sz="1500" b="0">
                <a:solidFill>
                  <a:srgbClr val="243142"/>
                </a:solidFill>
                <a:latin typeface="Segoe UI"/>
              </a:rPr>
              <a:t>   JWT trong cookie httpOnly, mật khẩu băm bcrypt, kèm Google OAuth 2.0.</a:t>
            </a:r>
          </a:p>
        </p:txBody>
      </p:sp>
      <p:sp>
        <p:nvSpPr>
          <p:cNvPr id="9" name="Rounded Rectangle 8"/>
          <p:cNvSpPr/>
          <p:nvPr/>
        </p:nvSpPr>
        <p:spPr>
          <a:xfrm>
            <a:off x="7772400" y="2286000"/>
            <a:ext cx="3566160" cy="713232"/>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1700" b="1">
                <a:solidFill>
                  <a:srgbClr val="1B4D8F"/>
                </a:solidFill>
                <a:latin typeface="Segoe UI"/>
              </a:rPr>
              <a:t>Trình duyệt</a:t>
            </a:r>
          </a:p>
        </p:txBody>
      </p:sp>
      <p:sp>
        <p:nvSpPr>
          <p:cNvPr id="10" name="Rectangle 9"/>
          <p:cNvSpPr/>
          <p:nvPr/>
        </p:nvSpPr>
        <p:spPr>
          <a:xfrm>
            <a:off x="9326880" y="3017520"/>
            <a:ext cx="45720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1400" b="1">
                <a:solidFill>
                  <a:srgbClr val="1B4D8F"/>
                </a:solidFill>
                <a:latin typeface="Segoe UI"/>
              </a:rPr>
              <a:t>▼</a:t>
            </a:r>
          </a:p>
        </p:txBody>
      </p:sp>
      <p:sp>
        <p:nvSpPr>
          <p:cNvPr id="11" name="Rounded Rectangle 10"/>
          <p:cNvSpPr/>
          <p:nvPr/>
        </p:nvSpPr>
        <p:spPr>
          <a:xfrm>
            <a:off x="7772400" y="3273552"/>
            <a:ext cx="3566160" cy="713232"/>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1700" b="1">
                <a:solidFill>
                  <a:srgbClr val="1B4D8F"/>
                </a:solidFill>
                <a:latin typeface="Segoe UI"/>
              </a:rPr>
              <a:t>Next.js</a:t>
            </a:r>
          </a:p>
        </p:txBody>
      </p:sp>
      <p:sp>
        <p:nvSpPr>
          <p:cNvPr id="12" name="Rectangle 11"/>
          <p:cNvSpPr/>
          <p:nvPr/>
        </p:nvSpPr>
        <p:spPr>
          <a:xfrm>
            <a:off x="9326880" y="4005072"/>
            <a:ext cx="45720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1400" b="1">
                <a:solidFill>
                  <a:srgbClr val="1B4D8F"/>
                </a:solidFill>
                <a:latin typeface="Segoe UI"/>
              </a:rPr>
              <a:t>▼</a:t>
            </a:r>
          </a:p>
        </p:txBody>
      </p:sp>
      <p:sp>
        <p:nvSpPr>
          <p:cNvPr id="13" name="Rounded Rectangle 12"/>
          <p:cNvSpPr/>
          <p:nvPr/>
        </p:nvSpPr>
        <p:spPr>
          <a:xfrm>
            <a:off x="7772400" y="4261104"/>
            <a:ext cx="3566160" cy="713232"/>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1700" b="1">
                <a:solidFill>
                  <a:srgbClr val="1B4D8F"/>
                </a:solidFill>
                <a:latin typeface="Segoe UI"/>
              </a:rPr>
              <a:t>Express API</a:t>
            </a:r>
          </a:p>
        </p:txBody>
      </p:sp>
      <p:sp>
        <p:nvSpPr>
          <p:cNvPr id="14" name="Rectangle 13"/>
          <p:cNvSpPr/>
          <p:nvPr/>
        </p:nvSpPr>
        <p:spPr>
          <a:xfrm>
            <a:off x="9326880" y="4992624"/>
            <a:ext cx="45720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1400" b="1">
                <a:solidFill>
                  <a:srgbClr val="1B4D8F"/>
                </a:solidFill>
                <a:latin typeface="Segoe UI"/>
              </a:rPr>
              <a:t>▼</a:t>
            </a:r>
          </a:p>
        </p:txBody>
      </p:sp>
      <p:sp>
        <p:nvSpPr>
          <p:cNvPr id="15" name="Rounded Rectangle 14"/>
          <p:cNvSpPr/>
          <p:nvPr/>
        </p:nvSpPr>
        <p:spPr>
          <a:xfrm>
            <a:off x="7772400" y="5248656"/>
            <a:ext cx="3566160" cy="713232"/>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1700" b="1">
                <a:solidFill>
                  <a:srgbClr val="1B4D8F"/>
                </a:solidFill>
                <a:latin typeface="Segoe UI"/>
              </a:rPr>
              <a:t>MongoDB Atlas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Thiết kế cơ sở dữ liệu</a:t>
            </a:r>
          </a:p>
        </p:txBody>
      </p:sp>
      <p:sp>
        <p:nvSpPr>
          <p:cNvPr id="7" name="Rectangle 6"/>
          <p:cNvSpPr/>
          <p:nvPr/>
        </p:nvSpPr>
        <p:spPr>
          <a:xfrm>
            <a:off x="822960" y="2057400"/>
            <a:ext cx="1051560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19 nhóm dữ liệu chính, nhóm theo nghiệp vụ</a:t>
            </a:r>
          </a:p>
        </p:txBody>
      </p:sp>
      <p:sp>
        <p:nvSpPr>
          <p:cNvPr id="8" name="Rounded Rectangle 7"/>
          <p:cNvSpPr/>
          <p:nvPr/>
        </p:nvSpPr>
        <p:spPr>
          <a:xfrm>
            <a:off x="822960" y="2606040"/>
            <a:ext cx="3383280" cy="14630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800" b="1">
                <a:solidFill>
                  <a:srgbClr val="1B4D8F"/>
                </a:solidFill>
                <a:latin typeface="Segoe UI"/>
              </a:rPr>
              <a:t>Người dùng</a:t>
            </a:r>
          </a:p>
          <a:p>
            <a:pPr algn="l">
              <a:spcAft>
                <a:spcPts val="600"/>
              </a:spcAft>
            </a:pPr>
            <a:r>
              <a:rPr sz="1400" b="0">
                <a:solidFill>
                  <a:srgbClr val="243142"/>
                </a:solidFill>
                <a:latin typeface="Segoe UI"/>
              </a:rPr>
              <a:t>User, Achievement, Review</a:t>
            </a:r>
          </a:p>
        </p:txBody>
      </p:sp>
      <p:sp>
        <p:nvSpPr>
          <p:cNvPr id="9" name="Rounded Rectangle 8"/>
          <p:cNvSpPr/>
          <p:nvPr/>
        </p:nvSpPr>
        <p:spPr>
          <a:xfrm>
            <a:off x="4480560" y="2606040"/>
            <a:ext cx="3383280" cy="14630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800" b="1">
                <a:solidFill>
                  <a:srgbClr val="1B4D8F"/>
                </a:solidFill>
                <a:latin typeface="Segoe UI"/>
              </a:rPr>
              <a:t>Nội dung</a:t>
            </a:r>
          </a:p>
          <a:p>
            <a:pPr algn="l">
              <a:spcAft>
                <a:spcPts val="600"/>
              </a:spcAft>
            </a:pPr>
            <a:r>
              <a:rPr sz="1400" b="0">
                <a:solidFill>
                  <a:srgbClr val="243142"/>
                </a:solidFill>
                <a:latin typeface="Segoe UI"/>
              </a:rPr>
              <a:t>Course, Lesson, Category, Provider</a:t>
            </a:r>
          </a:p>
        </p:txBody>
      </p:sp>
      <p:sp>
        <p:nvSpPr>
          <p:cNvPr id="10" name="Rounded Rectangle 9"/>
          <p:cNvSpPr/>
          <p:nvPr/>
        </p:nvSpPr>
        <p:spPr>
          <a:xfrm>
            <a:off x="8138160" y="2606040"/>
            <a:ext cx="3383280" cy="14630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800" b="1">
                <a:solidFill>
                  <a:srgbClr val="1B4D8F"/>
                </a:solidFill>
                <a:latin typeface="Segoe UI"/>
              </a:rPr>
              <a:t>Học tập</a:t>
            </a:r>
          </a:p>
          <a:p>
            <a:pPr algn="l">
              <a:spcAft>
                <a:spcPts val="600"/>
              </a:spcAft>
            </a:pPr>
            <a:r>
              <a:rPr sz="1400" b="0">
                <a:solidFill>
                  <a:srgbClr val="243142"/>
                </a:solidFill>
                <a:latin typeface="Segoe UI"/>
              </a:rPr>
              <a:t>Enrollment, Quiz, QuizAttempt, Certificate</a:t>
            </a:r>
          </a:p>
        </p:txBody>
      </p:sp>
      <p:sp>
        <p:nvSpPr>
          <p:cNvPr id="11" name="Rounded Rectangle 10"/>
          <p:cNvSpPr/>
          <p:nvPr/>
        </p:nvSpPr>
        <p:spPr>
          <a:xfrm>
            <a:off x="822960" y="4297680"/>
            <a:ext cx="3383280" cy="14630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800" b="1">
                <a:solidFill>
                  <a:srgbClr val="1B4D8F"/>
                </a:solidFill>
                <a:latin typeface="Segoe UI"/>
              </a:rPr>
              <a:t>Thanh toán</a:t>
            </a:r>
          </a:p>
          <a:p>
            <a:pPr algn="l">
              <a:spcAft>
                <a:spcPts val="600"/>
              </a:spcAft>
            </a:pPr>
            <a:r>
              <a:rPr sz="1400" b="0">
                <a:solidFill>
                  <a:srgbClr val="243142"/>
                </a:solidFill>
                <a:latin typeface="Segoe UI"/>
              </a:rPr>
              <a:t>Order, GiaoDichCoin</a:t>
            </a:r>
          </a:p>
        </p:txBody>
      </p:sp>
      <p:sp>
        <p:nvSpPr>
          <p:cNvPr id="12" name="Rounded Rectangle 11"/>
          <p:cNvSpPr/>
          <p:nvPr/>
        </p:nvSpPr>
        <p:spPr>
          <a:xfrm>
            <a:off x="4480560" y="4297680"/>
            <a:ext cx="3383280" cy="14630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800" b="1">
                <a:solidFill>
                  <a:srgbClr val="1B4D8F"/>
                </a:solidFill>
                <a:latin typeface="Segoe UI"/>
              </a:rPr>
              <a:t>Nội dung phụ</a:t>
            </a:r>
          </a:p>
          <a:p>
            <a:pPr algn="l">
              <a:spcAft>
                <a:spcPts val="600"/>
              </a:spcAft>
            </a:pPr>
            <a:r>
              <a:rPr sz="1400" b="0">
                <a:solidFill>
                  <a:srgbClr val="243142"/>
                </a:solidFill>
                <a:latin typeface="Segoe UI"/>
              </a:rPr>
              <a:t>Post, Banner, Faq, Document</a:t>
            </a:r>
          </a:p>
        </p:txBody>
      </p:sp>
      <p:sp>
        <p:nvSpPr>
          <p:cNvPr id="13" name="Rounded Rectangle 12"/>
          <p:cNvSpPr/>
          <p:nvPr/>
        </p:nvSpPr>
        <p:spPr>
          <a:xfrm>
            <a:off x="8138160" y="4297680"/>
            <a:ext cx="3383280" cy="14630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800" b="1">
                <a:solidFill>
                  <a:srgbClr val="1B4D8F"/>
                </a:solidFill>
                <a:latin typeface="Segoe UI"/>
              </a:rPr>
              <a:t>Trợ lý AI</a:t>
            </a:r>
          </a:p>
          <a:p>
            <a:pPr algn="l">
              <a:spcAft>
                <a:spcPts val="600"/>
              </a:spcAft>
            </a:pPr>
            <a:r>
              <a:rPr sz="1400" b="0">
                <a:solidFill>
                  <a:srgbClr val="243142"/>
                </a:solidFill>
                <a:latin typeface="Segoe UI"/>
              </a:rPr>
              <a:t>CuocTroChuyen, BoDemGioiHan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Đối tượng sử dụng hệ thống</a:t>
            </a:r>
          </a:p>
        </p:txBody>
      </p:sp>
      <p:sp>
        <p:nvSpPr>
          <p:cNvPr id="7" name="Rounded Rectangle 6"/>
          <p:cNvSpPr/>
          <p:nvPr/>
        </p:nvSpPr>
        <p:spPr>
          <a:xfrm>
            <a:off x="1828800" y="2011680"/>
            <a:ext cx="1371600" cy="566928"/>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200" b="1">
                <a:solidFill>
                  <a:srgbClr val="1B4D8F"/>
                </a:solidFill>
                <a:latin typeface="Segoe UI"/>
              </a:rPr>
              <a:t>01</a:t>
            </a:r>
          </a:p>
        </p:txBody>
      </p:sp>
      <p:sp>
        <p:nvSpPr>
          <p:cNvPr id="8" name="Rectangle 7"/>
          <p:cNvSpPr/>
          <p:nvPr/>
        </p:nvSpPr>
        <p:spPr>
          <a:xfrm>
            <a:off x="822960" y="2651760"/>
            <a:ext cx="338328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1800" b="1">
                <a:solidFill>
                  <a:srgbClr val="1B4D8F"/>
                </a:solidFill>
                <a:latin typeface="Segoe UI"/>
              </a:rPr>
              <a:t>Khách</a:t>
            </a:r>
          </a:p>
        </p:txBody>
      </p:sp>
      <p:sp>
        <p:nvSpPr>
          <p:cNvPr id="9" name="Rounded Rectangle 8"/>
          <p:cNvSpPr/>
          <p:nvPr/>
        </p:nvSpPr>
        <p:spPr>
          <a:xfrm>
            <a:off x="822960" y="3200400"/>
            <a:ext cx="3383280" cy="23774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600"/>
              </a:spcAft>
            </a:pPr>
            <a:r>
              <a:rPr sz="1400" b="0">
                <a:solidFill>
                  <a:srgbClr val="243142"/>
                </a:solidFill>
                <a:latin typeface="Segoe UI"/>
              </a:rPr>
              <a:t>Duyệt và tìm khóa học, đọc bài viết, tra cứu chứng nhận bằng mã, đăng ký tài khoản.</a:t>
            </a:r>
          </a:p>
        </p:txBody>
      </p:sp>
      <p:sp>
        <p:nvSpPr>
          <p:cNvPr id="10" name="Rounded Rectangle 9"/>
          <p:cNvSpPr/>
          <p:nvPr/>
        </p:nvSpPr>
        <p:spPr>
          <a:xfrm>
            <a:off x="5394960" y="2011680"/>
            <a:ext cx="1371600" cy="566928"/>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200" b="1">
                <a:solidFill>
                  <a:srgbClr val="1B4D8F"/>
                </a:solidFill>
                <a:latin typeface="Segoe UI"/>
              </a:rPr>
              <a:t>02</a:t>
            </a:r>
          </a:p>
        </p:txBody>
      </p:sp>
      <p:sp>
        <p:nvSpPr>
          <p:cNvPr id="11" name="Rectangle 10"/>
          <p:cNvSpPr/>
          <p:nvPr/>
        </p:nvSpPr>
        <p:spPr>
          <a:xfrm>
            <a:off x="4389120" y="2651760"/>
            <a:ext cx="338328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1800" b="1">
                <a:solidFill>
                  <a:srgbClr val="1B4D8F"/>
                </a:solidFill>
                <a:latin typeface="Segoe UI"/>
              </a:rPr>
              <a:t>Học viên</a:t>
            </a:r>
          </a:p>
        </p:txBody>
      </p:sp>
      <p:sp>
        <p:nvSpPr>
          <p:cNvPr id="12" name="Rounded Rectangle 11"/>
          <p:cNvSpPr/>
          <p:nvPr/>
        </p:nvSpPr>
        <p:spPr>
          <a:xfrm>
            <a:off x="4389120" y="3200400"/>
            <a:ext cx="3383280" cy="23774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600"/>
              </a:spcAft>
            </a:pPr>
            <a:r>
              <a:rPr sz="1400" b="0">
                <a:solidFill>
                  <a:srgbClr val="243142"/>
                </a:solidFill>
                <a:latin typeface="Segoe UI"/>
              </a:rPr>
              <a:t>Ghi danh, học bài, làm trắc nghiệm, thanh toán, nhận chứng nhận, đánh giá khóa học.</a:t>
            </a:r>
          </a:p>
        </p:txBody>
      </p:sp>
      <p:sp>
        <p:nvSpPr>
          <p:cNvPr id="13" name="Rounded Rectangle 12"/>
          <p:cNvSpPr/>
          <p:nvPr/>
        </p:nvSpPr>
        <p:spPr>
          <a:xfrm>
            <a:off x="8961119" y="2011680"/>
            <a:ext cx="1371600" cy="566928"/>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200" b="1">
                <a:solidFill>
                  <a:srgbClr val="1B4D8F"/>
                </a:solidFill>
                <a:latin typeface="Segoe UI"/>
              </a:rPr>
              <a:t>03</a:t>
            </a:r>
          </a:p>
        </p:txBody>
      </p:sp>
      <p:sp>
        <p:nvSpPr>
          <p:cNvPr id="14" name="Rectangle 13"/>
          <p:cNvSpPr/>
          <p:nvPr/>
        </p:nvSpPr>
        <p:spPr>
          <a:xfrm>
            <a:off x="7955279" y="2651760"/>
            <a:ext cx="338328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1800" b="1">
                <a:solidFill>
                  <a:srgbClr val="1B4D8F"/>
                </a:solidFill>
                <a:latin typeface="Segoe UI"/>
              </a:rPr>
              <a:t>Quản trị / Giảng viên</a:t>
            </a:r>
          </a:p>
        </p:txBody>
      </p:sp>
      <p:sp>
        <p:nvSpPr>
          <p:cNvPr id="15" name="Rounded Rectangle 14"/>
          <p:cNvSpPr/>
          <p:nvPr/>
        </p:nvSpPr>
        <p:spPr>
          <a:xfrm>
            <a:off x="7955279" y="3200400"/>
            <a:ext cx="3383280" cy="237744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600"/>
              </a:spcAft>
            </a:pPr>
            <a:r>
              <a:rPr sz="1400" b="0">
                <a:solidFill>
                  <a:srgbClr val="243142"/>
                </a:solidFill>
                <a:latin typeface="Segoe UI"/>
              </a:rPr>
              <a:t>Giảng viên tạo và sửa khóa học, bài học, đề kiểm tra rồi gửi chờ duyệt. Quản trị viên duyệt xuất bản, quản lý tài khoản, duyệt đơn chuyển khoản và xem thống kê toàn hệ thống.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Chức năng phía học viên</a:t>
            </a:r>
          </a:p>
        </p:txBody>
      </p:sp>
      <p:sp>
        <p:nvSpPr>
          <p:cNvPr id="7" name="Rounded Rectangle 6"/>
          <p:cNvSpPr/>
          <p:nvPr/>
        </p:nvSpPr>
        <p:spPr>
          <a:xfrm>
            <a:off x="822960" y="2057400"/>
            <a:ext cx="868680" cy="13258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400" b="1">
                <a:solidFill>
                  <a:srgbClr val="1B4D8F"/>
                </a:solidFill>
                <a:latin typeface="Segoe UI"/>
              </a:rPr>
              <a:t>01</a:t>
            </a:r>
          </a:p>
        </p:txBody>
      </p:sp>
      <p:sp>
        <p:nvSpPr>
          <p:cNvPr id="8" name="Rounded Rectangle 7"/>
          <p:cNvSpPr/>
          <p:nvPr/>
        </p:nvSpPr>
        <p:spPr>
          <a:xfrm>
            <a:off x="1828800" y="2057400"/>
            <a:ext cx="9509760" cy="132588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Trình phát bài học</a:t>
            </a:r>
          </a:p>
          <a:p>
            <a:pPr algn="l">
              <a:spcAft>
                <a:spcPts val="600"/>
              </a:spcAft>
            </a:pPr>
            <a:r>
              <a:rPr sz="1500" b="0">
                <a:solidFill>
                  <a:srgbClr val="243142"/>
                </a:solidFill>
                <a:latin typeface="Segoe UI"/>
              </a:rPr>
              <a:t>Video nhúng cùng tài liệu và danh sách bài học trên một trang; tiến độ ghi nhận theo từng bài.</a:t>
            </a:r>
          </a:p>
        </p:txBody>
      </p:sp>
      <p:sp>
        <p:nvSpPr>
          <p:cNvPr id="9" name="Rounded Rectangle 8"/>
          <p:cNvSpPr/>
          <p:nvPr/>
        </p:nvSpPr>
        <p:spPr>
          <a:xfrm>
            <a:off x="822960" y="3611880"/>
            <a:ext cx="868680" cy="13258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400" b="1">
                <a:solidFill>
                  <a:srgbClr val="1B4D8F"/>
                </a:solidFill>
                <a:latin typeface="Segoe UI"/>
              </a:rPr>
              <a:t>02</a:t>
            </a:r>
          </a:p>
        </p:txBody>
      </p:sp>
      <p:sp>
        <p:nvSpPr>
          <p:cNvPr id="10" name="Rounded Rectangle 9"/>
          <p:cNvSpPr/>
          <p:nvPr/>
        </p:nvSpPr>
        <p:spPr>
          <a:xfrm>
            <a:off x="1828800" y="3611880"/>
            <a:ext cx="9509760" cy="132588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Làm bài kiểm tra</a:t>
            </a:r>
          </a:p>
          <a:p>
            <a:pPr algn="l">
              <a:spcAft>
                <a:spcPts val="600"/>
              </a:spcAft>
            </a:pPr>
            <a:r>
              <a:rPr sz="1500" b="0">
                <a:solidFill>
                  <a:srgbClr val="243142"/>
                </a:solidFill>
                <a:latin typeface="Segoe UI"/>
              </a:rPr>
              <a:t>Trắc nghiệm tính giờ, chấm tự động theo đáp án lưu ở máy chủ; đáp án không bao giờ gửi về trình duyệt trước khi nộp.</a:t>
            </a:r>
          </a:p>
        </p:txBody>
      </p:sp>
      <p:sp>
        <p:nvSpPr>
          <p:cNvPr id="11" name="Rounded Rectangle 10"/>
          <p:cNvSpPr/>
          <p:nvPr/>
        </p:nvSpPr>
        <p:spPr>
          <a:xfrm>
            <a:off x="822960" y="5166360"/>
            <a:ext cx="868680" cy="13258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400" b="1">
                <a:solidFill>
                  <a:srgbClr val="1B4D8F"/>
                </a:solidFill>
                <a:latin typeface="Segoe UI"/>
              </a:rPr>
              <a:t>03</a:t>
            </a:r>
          </a:p>
        </p:txBody>
      </p:sp>
      <p:sp>
        <p:nvSpPr>
          <p:cNvPr id="12" name="Rounded Rectangle 11"/>
          <p:cNvSpPr/>
          <p:nvPr/>
        </p:nvSpPr>
        <p:spPr>
          <a:xfrm>
            <a:off x="1828800" y="5166360"/>
            <a:ext cx="9509760" cy="132588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Chứng nhận có mã tra cứu</a:t>
            </a:r>
          </a:p>
          <a:p>
            <a:pPr algn="l">
              <a:spcAft>
                <a:spcPts val="600"/>
              </a:spcAft>
            </a:pPr>
            <a:r>
              <a:rPr sz="1500" b="0">
                <a:solidFill>
                  <a:srgbClr val="243142"/>
                </a:solidFill>
                <a:latin typeface="Segoe UI"/>
              </a:rPr>
              <a:t>Hoàn thành lộ trình và đạt bài kiểm tra thì được cấp chứng nhận kèm mã; bên thứ ba tự tra cứu công khai được.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Ghi danh &amp; thanh toán</a:t>
            </a:r>
          </a:p>
        </p:txBody>
      </p:sp>
      <p:sp>
        <p:nvSpPr>
          <p:cNvPr id="7" name="Rectangle 6"/>
          <p:cNvSpPr/>
          <p:nvPr/>
        </p:nvSpPr>
        <p:spPr>
          <a:xfrm>
            <a:off x="822960" y="2103120"/>
            <a:ext cx="51206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100" b="1">
                <a:solidFill>
                  <a:srgbClr val="1B4D8F"/>
                </a:solidFill>
                <a:latin typeface="Segoe UI"/>
              </a:rPr>
              <a:t>Hai đường thanh toán</a:t>
            </a:r>
          </a:p>
        </p:txBody>
      </p:sp>
      <p:sp>
        <p:nvSpPr>
          <p:cNvPr id="8" name="Rounded Rectangle 7"/>
          <p:cNvSpPr/>
          <p:nvPr/>
        </p:nvSpPr>
        <p:spPr>
          <a:xfrm>
            <a:off x="822960" y="2606040"/>
            <a:ext cx="5120640" cy="265176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marL="177800" indent="-177800">
              <a:spcAft>
                <a:spcPts val="600"/>
              </a:spcAft>
            </a:pPr>
            <a:r>
              <a:rPr sz="1500" b="0">
                <a:solidFill>
                  <a:srgbClr val="243142"/>
                </a:solidFill>
                <a:latin typeface="Segoe UI"/>
              </a:rPr>
              <a:t>•  Chuyển khoản kèm mã VietQR, quản trị viên duyệt đơn để đối soát.</a:t>
            </a:r>
          </a:p>
          <a:p>
            <a:pPr algn="l" marL="177800" indent="-177800">
              <a:spcAft>
                <a:spcPts val="600"/>
              </a:spcAft>
            </a:pPr>
            <a:r>
              <a:rPr sz="1500" b="0">
                <a:solidFill>
                  <a:srgbClr val="243142"/>
                </a:solidFill>
                <a:latin typeface="Segoe UI"/>
              </a:rPr>
              <a:t>•  Ví coin nội bộ có sổ cái giao dịch, trừ coin là ghi danh ngay.</a:t>
            </a:r>
          </a:p>
          <a:p>
            <a:pPr algn="l" marL="177800" indent="-177800">
              <a:spcAft>
                <a:spcPts val="600"/>
              </a:spcAft>
            </a:pPr>
            <a:r>
              <a:rPr sz="1500" b="0">
                <a:solidFill>
                  <a:srgbClr val="243142"/>
                </a:solidFill>
                <a:latin typeface="Segoe UI"/>
              </a:rPr>
              <a:t>•  Khóa miễn phí thì ghi danh thẳng, không qua bước thanh toán.</a:t>
            </a:r>
          </a:p>
        </p:txBody>
      </p:sp>
      <p:sp>
        <p:nvSpPr>
          <p:cNvPr id="9" name="Rectangle 8"/>
          <p:cNvSpPr/>
          <p:nvPr/>
        </p:nvSpPr>
        <p:spPr>
          <a:xfrm>
            <a:off x="6263640" y="2103120"/>
            <a:ext cx="51206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100" b="1">
                <a:solidFill>
                  <a:srgbClr val="1B4D8F"/>
                </a:solidFill>
                <a:latin typeface="Segoe UI"/>
              </a:rPr>
              <a:t>Cổng kiểm tra quyền xem</a:t>
            </a:r>
          </a:p>
        </p:txBody>
      </p:sp>
      <p:sp>
        <p:nvSpPr>
          <p:cNvPr id="10" name="Rounded Rectangle 9"/>
          <p:cNvSpPr/>
          <p:nvPr/>
        </p:nvSpPr>
        <p:spPr>
          <a:xfrm>
            <a:off x="6263640" y="2606040"/>
            <a:ext cx="5120640" cy="265176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marL="177800" indent="-177800">
              <a:spcAft>
                <a:spcPts val="600"/>
              </a:spcAft>
            </a:pPr>
            <a:r>
              <a:rPr sz="1500" b="0">
                <a:solidFill>
                  <a:srgbClr val="243142"/>
                </a:solidFill>
                <a:latin typeface="Segoe UI"/>
              </a:rPr>
              <a:t>•  Mọi đường dẫn trả về nội dung bài học đều phải đi qua một hàm kiểm tra quyền duy nhất.</a:t>
            </a:r>
          </a:p>
          <a:p>
            <a:pPr algn="l" marL="177800" indent="-177800">
              <a:spcAft>
                <a:spcPts val="600"/>
              </a:spcAft>
            </a:pPr>
            <a:r>
              <a:rPr sz="1500" b="0">
                <a:solidFill>
                  <a:srgbClr val="243142"/>
                </a:solidFill>
                <a:latin typeface="Segoe UI"/>
              </a:rPr>
              <a:t>•  Chưa ghi danh hoặc chưa thanh toán thì nhận mã lỗi 402 hoặc 403 và tuyệt đối không kèm link video.</a:t>
            </a:r>
          </a:p>
          <a:p>
            <a:pPr algn="l" marL="177800" indent="-177800">
              <a:spcAft>
                <a:spcPts val="600"/>
              </a:spcAft>
            </a:pPr>
            <a:r>
              <a:rPr sz="1500" b="0">
                <a:solidFill>
                  <a:srgbClr val="243142"/>
                </a:solidFill>
                <a:latin typeface="Segoe UI"/>
              </a:rPr>
              <a:t>•  Kiểm tra rải rác ở từng nơi là cách cũ, rất dễ bỏ sót một đường.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Trợ lý AI – phần mới</a:t>
            </a:r>
          </a:p>
        </p:txBody>
      </p:sp>
      <p:sp>
        <p:nvSpPr>
          <p:cNvPr id="7" name="Rounded Rectangle 6"/>
          <p:cNvSpPr/>
          <p:nvPr/>
        </p:nvSpPr>
        <p:spPr>
          <a:xfrm>
            <a:off x="2697480" y="1965960"/>
            <a:ext cx="1371600" cy="566928"/>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200" b="1">
                <a:solidFill>
                  <a:srgbClr val="1B4D8F"/>
                </a:solidFill>
                <a:latin typeface="Segoe UI"/>
              </a:rPr>
              <a:t>01</a:t>
            </a:r>
          </a:p>
        </p:txBody>
      </p:sp>
      <p:sp>
        <p:nvSpPr>
          <p:cNvPr id="8" name="Rounded Rectangle 7"/>
          <p:cNvSpPr/>
          <p:nvPr/>
        </p:nvSpPr>
        <p:spPr>
          <a:xfrm>
            <a:off x="8138160" y="1965960"/>
            <a:ext cx="1371600" cy="566928"/>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200" b="1">
                <a:solidFill>
                  <a:srgbClr val="1B4D8F"/>
                </a:solidFill>
                <a:latin typeface="Segoe UI"/>
              </a:rPr>
              <a:t>02</a:t>
            </a:r>
          </a:p>
        </p:txBody>
      </p:sp>
      <p:sp>
        <p:nvSpPr>
          <p:cNvPr id="9" name="Rectangle 8"/>
          <p:cNvSpPr/>
          <p:nvPr/>
        </p:nvSpPr>
        <p:spPr>
          <a:xfrm>
            <a:off x="822960" y="2606040"/>
            <a:ext cx="51206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000" b="1">
                <a:solidFill>
                  <a:srgbClr val="1B4D8F"/>
                </a:solidFill>
                <a:latin typeface="Segoe UI"/>
              </a:rPr>
              <a:t>Hộp chat toàn trang</a:t>
            </a:r>
          </a:p>
        </p:txBody>
      </p:sp>
      <p:sp>
        <p:nvSpPr>
          <p:cNvPr id="10" name="Rectangle 9"/>
          <p:cNvSpPr/>
          <p:nvPr/>
        </p:nvSpPr>
        <p:spPr>
          <a:xfrm>
            <a:off x="6263640" y="2606040"/>
            <a:ext cx="51206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000" b="1">
                <a:solidFill>
                  <a:srgbClr val="1B4D8F"/>
                </a:solidFill>
                <a:latin typeface="Segoe UI"/>
              </a:rPr>
              <a:t>Trợ giảng trong bài học</a:t>
            </a:r>
          </a:p>
        </p:txBody>
      </p:sp>
      <p:sp>
        <p:nvSpPr>
          <p:cNvPr id="11" name="Rounded Rectangle 10"/>
          <p:cNvSpPr/>
          <p:nvPr/>
        </p:nvSpPr>
        <p:spPr>
          <a:xfrm>
            <a:off x="822960" y="3108960"/>
            <a:ext cx="5120640" cy="178308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marL="177800" indent="-177800">
              <a:spcAft>
                <a:spcPts val="600"/>
              </a:spcAft>
            </a:pPr>
            <a:r>
              <a:rPr sz="1500" b="0">
                <a:solidFill>
                  <a:srgbClr val="243142"/>
                </a:solidFill>
                <a:latin typeface="Segoe UI"/>
              </a:rPr>
              <a:t>•  Nổi ở góc phải mọi trang, bấm vào là hỏi được.</a:t>
            </a:r>
          </a:p>
          <a:p>
            <a:pPr algn="l" marL="177800" indent="-177800">
              <a:spcAft>
                <a:spcPts val="600"/>
              </a:spcAft>
            </a:pPr>
            <a:r>
              <a:rPr sz="1500" b="0">
                <a:solidFill>
                  <a:srgbClr val="243142"/>
                </a:solidFill>
                <a:latin typeface="Segoe UI"/>
              </a:rPr>
              <a:t>•  Trả lời về cách dùng nền tảng; khách chưa đăng nhập vẫn hỏi được.</a:t>
            </a:r>
          </a:p>
        </p:txBody>
      </p:sp>
      <p:sp>
        <p:nvSpPr>
          <p:cNvPr id="12" name="Rounded Rectangle 11"/>
          <p:cNvSpPr/>
          <p:nvPr/>
        </p:nvSpPr>
        <p:spPr>
          <a:xfrm>
            <a:off x="6263640" y="3108960"/>
            <a:ext cx="5120640" cy="178308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marL="177800" indent="-177800">
              <a:spcAft>
                <a:spcPts val="600"/>
              </a:spcAft>
            </a:pPr>
            <a:r>
              <a:rPr sz="1500" b="0">
                <a:solidFill>
                  <a:srgbClr val="243142"/>
                </a:solidFill>
                <a:latin typeface="Segoe UI"/>
              </a:rPr>
              <a:t>•  Đọc được tên khóa học và nội dung bài đang mở.</a:t>
            </a:r>
          </a:p>
          <a:p>
            <a:pPr algn="l" marL="177800" indent="-177800">
              <a:spcAft>
                <a:spcPts val="600"/>
              </a:spcAft>
            </a:pPr>
            <a:r>
              <a:rPr sz="1500" b="0">
                <a:solidFill>
                  <a:srgbClr val="243142"/>
                </a:solidFill>
                <a:latin typeface="Segoe UI"/>
              </a:rPr>
              <a:t>•  Nhớ ba cặp hỏi đáp gần nhất nên hiểu câu hỏi nối tiếp.</a:t>
            </a:r>
          </a:p>
        </p:txBody>
      </p:sp>
      <p:sp>
        <p:nvSpPr>
          <p:cNvPr id="13" name="Rounded Rectangle 12"/>
          <p:cNvSpPr/>
          <p:nvPr/>
        </p:nvSpPr>
        <p:spPr>
          <a:xfrm>
            <a:off x="822960" y="5029200"/>
            <a:ext cx="10607040" cy="123444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800" b="1">
                <a:solidFill>
                  <a:srgbClr val="C02A2A"/>
                </a:solidFill>
                <a:latin typeface="Segoe UI"/>
              </a:rPr>
              <a:t>Hàng rào an toàn</a:t>
            </a:r>
          </a:p>
          <a:p>
            <a:pPr algn="l">
              <a:spcAft>
                <a:spcPts val="600"/>
              </a:spcAft>
            </a:pPr>
            <a:r>
              <a:rPr sz="1400" b="0">
                <a:solidFill>
                  <a:srgbClr val="243142"/>
                </a:solidFill>
                <a:latin typeface="Segoe UI"/>
              </a:rPr>
              <a:t>Không đọc đáp án bài kiểm tra, không bịa tên khóa học hay học phí, bỏ qua mọi yêu cầu đổi vai trò. Nội dung bài chỉ vào lời nhắc sau khi đã qua cổng kiểm tra quyền xem. Giới hạn tần suất theo khách, theo tài khoản và theo toàn hệ thống.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Quản trị hệ thống</a:t>
            </a:r>
          </a:p>
        </p:txBody>
      </p:sp>
      <p:sp>
        <p:nvSpPr>
          <p:cNvPr id="7" name="Rounded Rectangle 6"/>
          <p:cNvSpPr/>
          <p:nvPr/>
        </p:nvSpPr>
        <p:spPr>
          <a:xfrm>
            <a:off x="822960" y="2057400"/>
            <a:ext cx="868680" cy="13258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400" b="1">
                <a:solidFill>
                  <a:srgbClr val="1B4D8F"/>
                </a:solidFill>
                <a:latin typeface="Segoe UI"/>
              </a:rPr>
              <a:t>01</a:t>
            </a:r>
          </a:p>
        </p:txBody>
      </p:sp>
      <p:sp>
        <p:nvSpPr>
          <p:cNvPr id="8" name="Rounded Rectangle 7"/>
          <p:cNvSpPr/>
          <p:nvPr/>
        </p:nvSpPr>
        <p:spPr>
          <a:xfrm>
            <a:off x="1828800" y="2057400"/>
            <a:ext cx="9509760" cy="132588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Không gian giảng viên</a:t>
            </a:r>
          </a:p>
          <a:p>
            <a:pPr algn="l">
              <a:spcAft>
                <a:spcPts val="600"/>
              </a:spcAft>
            </a:pPr>
            <a:r>
              <a:rPr sz="1500" b="0">
                <a:solidFill>
                  <a:srgbClr val="243142"/>
                </a:solidFill>
                <a:latin typeface="Segoe UI"/>
              </a:rPr>
              <a:t>Quản lý khóa học của mình, cập nhật video bài giảng, soạn đề trắc nghiệm và theo dõi kết quả học tập của học viên.</a:t>
            </a:r>
          </a:p>
        </p:txBody>
      </p:sp>
      <p:sp>
        <p:nvSpPr>
          <p:cNvPr id="9" name="Rounded Rectangle 8"/>
          <p:cNvSpPr/>
          <p:nvPr/>
        </p:nvSpPr>
        <p:spPr>
          <a:xfrm>
            <a:off x="822960" y="3611880"/>
            <a:ext cx="868680" cy="13258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400" b="1">
                <a:solidFill>
                  <a:srgbClr val="1B4D8F"/>
                </a:solidFill>
                <a:latin typeface="Segoe UI"/>
              </a:rPr>
              <a:t>02</a:t>
            </a:r>
          </a:p>
        </p:txBody>
      </p:sp>
      <p:sp>
        <p:nvSpPr>
          <p:cNvPr id="10" name="Rounded Rectangle 9"/>
          <p:cNvSpPr/>
          <p:nvPr/>
        </p:nvSpPr>
        <p:spPr>
          <a:xfrm>
            <a:off x="1828800" y="3611880"/>
            <a:ext cx="9509760" cy="132588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Bảng điều khiển quản trị</a:t>
            </a:r>
          </a:p>
          <a:p>
            <a:pPr algn="l">
              <a:spcAft>
                <a:spcPts val="600"/>
              </a:spcAft>
            </a:pPr>
            <a:r>
              <a:rPr sz="1500" b="0">
                <a:solidFill>
                  <a:srgbClr val="243142"/>
                </a:solidFill>
                <a:latin typeface="Segoe UI"/>
              </a:rPr>
              <a:t>Duyệt và xuất bản khóa học, quản lý tài khoản và vai trò, danh mục, đơn vị đào tạo, banner, câu hỏi thường gặp và bài viết.</a:t>
            </a:r>
          </a:p>
        </p:txBody>
      </p:sp>
      <p:sp>
        <p:nvSpPr>
          <p:cNvPr id="11" name="Rounded Rectangle 10"/>
          <p:cNvSpPr/>
          <p:nvPr/>
        </p:nvSpPr>
        <p:spPr>
          <a:xfrm>
            <a:off x="822960" y="5166360"/>
            <a:ext cx="868680" cy="13258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400" b="1">
                <a:solidFill>
                  <a:srgbClr val="1B4D8F"/>
                </a:solidFill>
                <a:latin typeface="Segoe UI"/>
              </a:rPr>
              <a:t>03</a:t>
            </a:r>
          </a:p>
        </p:txBody>
      </p:sp>
      <p:sp>
        <p:nvSpPr>
          <p:cNvPr id="12" name="Rounded Rectangle 11"/>
          <p:cNvSpPr/>
          <p:nvPr/>
        </p:nvSpPr>
        <p:spPr>
          <a:xfrm>
            <a:off x="1828800" y="5166360"/>
            <a:ext cx="9509760" cy="132588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900" b="1">
                <a:solidFill>
                  <a:srgbClr val="1B4D8F"/>
                </a:solidFill>
                <a:latin typeface="Segoe UI"/>
              </a:rPr>
              <a:t>Đối soát và thống kê</a:t>
            </a:r>
          </a:p>
          <a:p>
            <a:pPr algn="l">
              <a:spcAft>
                <a:spcPts val="600"/>
              </a:spcAft>
            </a:pPr>
            <a:r>
              <a:rPr sz="1500" b="0">
                <a:solidFill>
                  <a:srgbClr val="243142"/>
                </a:solidFill>
                <a:latin typeface="Segoe UI"/>
              </a:rPr>
              <a:t>Duyệt đơn chuyển khoản, theo dõi ví coin và sổ cái; bốn số liệu tổng quan: tài khoản, khóa học, lượt ghi danh, chứng nhận đã cấp.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Chất lượng &amp; kiểm thử</a:t>
            </a:r>
          </a:p>
        </p:txBody>
      </p:sp>
      <p:sp>
        <p:nvSpPr>
          <p:cNvPr id="7" name="Rounded Rectangle 6"/>
          <p:cNvSpPr/>
          <p:nvPr/>
        </p:nvSpPr>
        <p:spPr>
          <a:xfrm>
            <a:off x="822960" y="2148840"/>
            <a:ext cx="2560320" cy="137160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3400" b="1">
                <a:solidFill>
                  <a:srgbClr val="1B4D8F"/>
                </a:solidFill>
                <a:latin typeface="Segoe UI"/>
              </a:rPr>
              <a:t>139</a:t>
            </a:r>
          </a:p>
          <a:p>
            <a:pPr algn="ctr">
              <a:spcAft>
                <a:spcPts val="600"/>
              </a:spcAft>
            </a:pPr>
            <a:r>
              <a:rPr sz="1400" b="0">
                <a:solidFill>
                  <a:srgbClr val="243142"/>
                </a:solidFill>
                <a:latin typeface="Segoe UI"/>
              </a:rPr>
              <a:t>đường dẫn API</a:t>
            </a:r>
          </a:p>
        </p:txBody>
      </p:sp>
      <p:sp>
        <p:nvSpPr>
          <p:cNvPr id="8" name="Rounded Rectangle 7"/>
          <p:cNvSpPr/>
          <p:nvPr/>
        </p:nvSpPr>
        <p:spPr>
          <a:xfrm>
            <a:off x="3566160" y="2148840"/>
            <a:ext cx="2560320" cy="137160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3400" b="1">
                <a:solidFill>
                  <a:srgbClr val="1B4D8F"/>
                </a:solidFill>
                <a:latin typeface="Segoe UI"/>
              </a:rPr>
              <a:t>19</a:t>
            </a:r>
          </a:p>
          <a:p>
            <a:pPr algn="ctr">
              <a:spcAft>
                <a:spcPts val="600"/>
              </a:spcAft>
            </a:pPr>
            <a:r>
              <a:rPr sz="1400" b="0">
                <a:solidFill>
                  <a:srgbClr val="243142"/>
                </a:solidFill>
                <a:latin typeface="Segoe UI"/>
              </a:rPr>
              <a:t>nhóm dữ liệu</a:t>
            </a:r>
          </a:p>
        </p:txBody>
      </p:sp>
      <p:sp>
        <p:nvSpPr>
          <p:cNvPr id="9" name="Rounded Rectangle 8"/>
          <p:cNvSpPr/>
          <p:nvPr/>
        </p:nvSpPr>
        <p:spPr>
          <a:xfrm>
            <a:off x="6309360" y="2148840"/>
            <a:ext cx="2560320" cy="137160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3400" b="1">
                <a:solidFill>
                  <a:srgbClr val="1B4D8F"/>
                </a:solidFill>
                <a:latin typeface="Segoe UI"/>
              </a:rPr>
              <a:t>256</a:t>
            </a:r>
          </a:p>
          <a:p>
            <a:pPr algn="ctr">
              <a:spcAft>
                <a:spcPts val="600"/>
              </a:spcAft>
            </a:pPr>
            <a:r>
              <a:rPr sz="1400" b="0">
                <a:solidFill>
                  <a:srgbClr val="243142"/>
                </a:solidFill>
                <a:latin typeface="Segoe UI"/>
              </a:rPr>
              <a:t>kiểm thử đơn vị</a:t>
            </a:r>
          </a:p>
        </p:txBody>
      </p:sp>
      <p:sp>
        <p:nvSpPr>
          <p:cNvPr id="10" name="Rounded Rectangle 9"/>
          <p:cNvSpPr/>
          <p:nvPr/>
        </p:nvSpPr>
        <p:spPr>
          <a:xfrm>
            <a:off x="9052560" y="2148840"/>
            <a:ext cx="2560320" cy="137160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3400" b="1">
                <a:solidFill>
                  <a:srgbClr val="1B4D8F"/>
                </a:solidFill>
                <a:latin typeface="Segoe UI"/>
              </a:rPr>
              <a:t>0</a:t>
            </a:r>
          </a:p>
          <a:p>
            <a:pPr algn="ctr">
              <a:spcAft>
                <a:spcPts val="600"/>
              </a:spcAft>
            </a:pPr>
            <a:r>
              <a:rPr sz="1400" b="0">
                <a:solidFill>
                  <a:srgbClr val="243142"/>
                </a:solidFill>
                <a:latin typeface="Segoe UI"/>
              </a:rPr>
              <a:t>lỗi kiểm thử</a:t>
            </a:r>
          </a:p>
        </p:txBody>
      </p:sp>
      <p:sp>
        <p:nvSpPr>
          <p:cNvPr id="11" name="Rounded Rectangle 10"/>
          <p:cNvSpPr/>
          <p:nvPr/>
        </p:nvSpPr>
        <p:spPr>
          <a:xfrm>
            <a:off x="822960" y="3840480"/>
            <a:ext cx="10607040" cy="178308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marL="177800" indent="-177800">
              <a:spcAft>
                <a:spcPts val="600"/>
              </a:spcAft>
            </a:pPr>
            <a:r>
              <a:rPr sz="1500" b="0">
                <a:solidFill>
                  <a:srgbClr val="243142"/>
                </a:solidFill>
                <a:latin typeface="Segoe UI"/>
              </a:rPr>
              <a:t>•  Kiểm thử là hàm thuần, không mở kết nối cơ sở dữ liệu và không gọi dịch vụ ngoài, nên chạy được trên máy chủ CI không có khóa.</a:t>
            </a:r>
          </a:p>
          <a:p>
            <a:pPr algn="l" marL="177800" indent="-177800">
              <a:spcAft>
                <a:spcPts val="600"/>
              </a:spcAft>
            </a:pPr>
            <a:r>
              <a:rPr sz="1500" b="0">
                <a:solidFill>
                  <a:srgbClr val="243142"/>
                </a:solidFill>
                <a:latin typeface="Segoe UI"/>
              </a:rPr>
              <a:t>•  GitHub Actions chạy kiểm tra định dạng, chất lượng mã, kiểu dữ liệu và dựng bản build ở mỗi lần đẩy mã.</a:t>
            </a:r>
          </a:p>
          <a:p>
            <a:pPr algn="l" marL="177800" indent="-177800">
              <a:spcAft>
                <a:spcPts val="600"/>
              </a:spcAft>
            </a:pPr>
            <a:r>
              <a:rPr sz="1500" b="0">
                <a:solidFill>
                  <a:srgbClr val="243142"/>
                </a:solidFill>
                <a:latin typeface="Segoe UI"/>
              </a:rPr>
              <a:t>•  Mật khẩu băm bcrypt, phiên đăng nhập trong cookie httpOnly, giới hạn số lần đăng nhập sai.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ounded Rectangle 5"/>
          <p:cNvSpPr/>
          <p:nvPr/>
        </p:nvSpPr>
        <p:spPr>
          <a:xfrm>
            <a:off x="1828800" y="868680"/>
            <a:ext cx="8534095" cy="868680"/>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1B4D8F"/>
                </a:solidFill>
                <a:latin typeface="Cambria"/>
              </a:rPr>
              <a:t>Hạn chế &amp; hướng phát triển</a:t>
            </a:r>
          </a:p>
        </p:txBody>
      </p:sp>
      <p:sp>
        <p:nvSpPr>
          <p:cNvPr id="7" name="Rounded Rectangle 6"/>
          <p:cNvSpPr/>
          <p:nvPr/>
        </p:nvSpPr>
        <p:spPr>
          <a:xfrm>
            <a:off x="2697480" y="1965960"/>
            <a:ext cx="1371600" cy="566928"/>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200" b="1">
                <a:solidFill>
                  <a:srgbClr val="1B4D8F"/>
                </a:solidFill>
                <a:latin typeface="Segoe UI"/>
              </a:rPr>
              <a:t>01</a:t>
            </a:r>
          </a:p>
        </p:txBody>
      </p:sp>
      <p:sp>
        <p:nvSpPr>
          <p:cNvPr id="8" name="Rounded Rectangle 7"/>
          <p:cNvSpPr/>
          <p:nvPr/>
        </p:nvSpPr>
        <p:spPr>
          <a:xfrm>
            <a:off x="8138160" y="1965960"/>
            <a:ext cx="1371600" cy="566928"/>
          </a:xfrm>
          <a:prstGeom prst="roundRect">
            <a:avLst/>
          </a:prstGeom>
          <a:solidFill>
            <a:srgbClr val="D7E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200" b="1">
                <a:solidFill>
                  <a:srgbClr val="1B4D8F"/>
                </a:solidFill>
                <a:latin typeface="Segoe UI"/>
              </a:rPr>
              <a:t>02</a:t>
            </a:r>
          </a:p>
        </p:txBody>
      </p:sp>
      <p:sp>
        <p:nvSpPr>
          <p:cNvPr id="9" name="Rectangle 8"/>
          <p:cNvSpPr/>
          <p:nvPr/>
        </p:nvSpPr>
        <p:spPr>
          <a:xfrm>
            <a:off x="822960" y="2606040"/>
            <a:ext cx="51206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000" b="1">
                <a:solidFill>
                  <a:srgbClr val="1B4D8F"/>
                </a:solidFill>
                <a:latin typeface="Segoe UI"/>
              </a:rPr>
              <a:t>Hạn chế hiện tại</a:t>
            </a:r>
          </a:p>
        </p:txBody>
      </p:sp>
      <p:sp>
        <p:nvSpPr>
          <p:cNvPr id="10" name="Rectangle 9"/>
          <p:cNvSpPr/>
          <p:nvPr/>
        </p:nvSpPr>
        <p:spPr>
          <a:xfrm>
            <a:off x="6263640" y="2606040"/>
            <a:ext cx="51206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2000" b="1">
                <a:solidFill>
                  <a:srgbClr val="1B4D8F"/>
                </a:solidFill>
                <a:latin typeface="Segoe UI"/>
              </a:rPr>
              <a:t>Hướng phát triển</a:t>
            </a:r>
          </a:p>
        </p:txBody>
      </p:sp>
      <p:sp>
        <p:nvSpPr>
          <p:cNvPr id="11" name="Rounded Rectangle 10"/>
          <p:cNvSpPr/>
          <p:nvPr/>
        </p:nvSpPr>
        <p:spPr>
          <a:xfrm>
            <a:off x="822960" y="3108960"/>
            <a:ext cx="5120640" cy="274320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marL="177800" indent="-177800">
              <a:spcAft>
                <a:spcPts val="600"/>
              </a:spcAft>
            </a:pPr>
            <a:r>
              <a:rPr sz="1500" b="0">
                <a:solidFill>
                  <a:srgbClr val="243142"/>
                </a:solidFill>
                <a:latin typeface="Segoe UI"/>
              </a:rPr>
              <a:t>•  Chưa có cổng thanh toán tự động, còn phải duyệt chuyển khoản thủ công.</a:t>
            </a:r>
          </a:p>
          <a:p>
            <a:pPr algn="l" marL="177800" indent="-177800">
              <a:spcAft>
                <a:spcPts val="600"/>
              </a:spcAft>
            </a:pPr>
            <a:r>
              <a:rPr sz="1500" b="0">
                <a:solidFill>
                  <a:srgbClr val="243142"/>
                </a:solidFill>
                <a:latin typeface="Segoe UI"/>
              </a:rPr>
              <a:t>•  Chưa có ứng dụng di động riêng.</a:t>
            </a:r>
          </a:p>
          <a:p>
            <a:pPr algn="l" marL="177800" indent="-177800">
              <a:spcAft>
                <a:spcPts val="600"/>
              </a:spcAft>
            </a:pPr>
            <a:r>
              <a:rPr sz="1500" b="0">
                <a:solidFill>
                  <a:srgbClr val="243142"/>
                </a:solidFill>
                <a:latin typeface="Segoe UI"/>
              </a:rPr>
              <a:t>•  Chưa gửi thư nhắc học tự động.</a:t>
            </a:r>
          </a:p>
          <a:p>
            <a:pPr algn="l" marL="177800" indent="-177800">
              <a:spcAft>
                <a:spcPts val="600"/>
              </a:spcAft>
            </a:pPr>
            <a:r>
              <a:rPr sz="1500" b="0">
                <a:solidFill>
                  <a:srgbClr val="243142"/>
                </a:solidFill>
                <a:latin typeface="Segoe UI"/>
              </a:rPr>
              <a:t>•  Chưa có lớp học trực tiếp và nhắn tin thời gian thực.</a:t>
            </a:r>
          </a:p>
          <a:p>
            <a:pPr algn="l" marL="177800" indent="-177800">
              <a:spcAft>
                <a:spcPts val="600"/>
              </a:spcAft>
            </a:pPr>
            <a:r>
              <a:rPr sz="1500" b="0">
                <a:solidFill>
                  <a:srgbClr val="243142"/>
                </a:solidFill>
                <a:latin typeface="Segoe UI"/>
              </a:rPr>
              <a:t>•  Chưa kiểm thử tải ở quy mô lớn.</a:t>
            </a:r>
          </a:p>
        </p:txBody>
      </p:sp>
      <p:sp>
        <p:nvSpPr>
          <p:cNvPr id="12" name="Rounded Rectangle 11"/>
          <p:cNvSpPr/>
          <p:nvPr/>
        </p:nvSpPr>
        <p:spPr>
          <a:xfrm>
            <a:off x="6263640" y="3108960"/>
            <a:ext cx="5120640" cy="2743200"/>
          </a:xfrm>
          <a:prstGeom prst="round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marL="177800" indent="-177800">
              <a:spcAft>
                <a:spcPts val="600"/>
              </a:spcAft>
            </a:pPr>
            <a:r>
              <a:rPr sz="1500" b="0">
                <a:solidFill>
                  <a:srgbClr val="243142"/>
                </a:solidFill>
                <a:latin typeface="Segoe UI"/>
              </a:rPr>
              <a:t>•  Nối cổng thanh toán SePay hoặc Momo để ghi danh tức thì.</a:t>
            </a:r>
          </a:p>
          <a:p>
            <a:pPr algn="l" marL="177800" indent="-177800">
              <a:spcAft>
                <a:spcPts val="600"/>
              </a:spcAft>
            </a:pPr>
            <a:r>
              <a:rPr sz="1500" b="0">
                <a:solidFill>
                  <a:srgbClr val="243142"/>
                </a:solidFill>
                <a:latin typeface="Segoe UI"/>
              </a:rPr>
              <a:t>•  Dựng ứng dụng di động bằng React Native.</a:t>
            </a:r>
          </a:p>
          <a:p>
            <a:pPr algn="l" marL="177800" indent="-177800">
              <a:spcAft>
                <a:spcPts val="600"/>
              </a:spcAft>
            </a:pPr>
            <a:r>
              <a:rPr sz="1500" b="0">
                <a:solidFill>
                  <a:srgbClr val="243142"/>
                </a:solidFill>
                <a:latin typeface="Segoe UI"/>
              </a:rPr>
              <a:t>•  Gợi ý lộ trình học cá nhân hóa dựa trên tiến độ và điểm số.</a:t>
            </a:r>
          </a:p>
          <a:p>
            <a:pPr algn="l" marL="177800" indent="-177800">
              <a:spcAft>
                <a:spcPts val="600"/>
              </a:spcAft>
            </a:pPr>
            <a:r>
              <a:rPr sz="1500" b="0">
                <a:solidFill>
                  <a:srgbClr val="243142"/>
                </a:solidFill>
                <a:latin typeface="Segoe UI"/>
              </a:rPr>
              <a:t>•  Gửi thư điện tử định kỳ nhắc học viên quay lại.</a:t>
            </a:r>
          </a:p>
          <a:p>
            <a:pPr algn="l" marL="177800" indent="-177800">
              <a:spcAft>
                <a:spcPts val="600"/>
              </a:spcAft>
            </a:pPr>
            <a:r>
              <a:rPr sz="1500" b="0">
                <a:solidFill>
                  <a:srgbClr val="243142"/>
                </a:solidFill>
                <a:latin typeface="Segoe UI"/>
              </a:rPr>
              <a:t>•  Mở rộng trợ lý AI sang chấm tự luận và tóm tắt bài giảng.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80560" cy="658368"/>
          </a:xfrm>
          <a:prstGeom prst="rect">
            <a:avLst/>
          </a:prstGeom>
          <a:solidFill>
            <a:srgbClr val="C2D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 y="109728"/>
            <a:ext cx="877824" cy="438912"/>
          </a:xfrm>
          <a:prstGeom prst="rect">
            <a:avLst/>
          </a:prstGeom>
        </p:spPr>
      </p:pic>
      <p:sp>
        <p:nvSpPr>
          <p:cNvPr id="5" name="Rectangle 4"/>
          <p:cNvSpPr/>
          <p:nvPr/>
        </p:nvSpPr>
        <p:spPr>
          <a:xfrm>
            <a:off x="658368" y="54864"/>
            <a:ext cx="3749039"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600"/>
              </a:spcAft>
            </a:pPr>
            <a:r>
              <a:rPr sz="1050" b="1">
                <a:solidFill>
                  <a:srgbClr val="1B4D8F"/>
                </a:solidFill>
                <a:latin typeface="Segoe UI"/>
              </a:rPr>
              <a:t>HỌC VIỆN CÔNG NGHỆ BƯU CHÍNH VIỄN THÔNG</a:t>
            </a:r>
          </a:p>
        </p:txBody>
      </p:sp>
      <p:sp>
        <p:nvSpPr>
          <p:cNvPr id="6" name="Rectangle 5"/>
          <p:cNvSpPr/>
          <p:nvPr/>
        </p:nvSpPr>
        <p:spPr>
          <a:xfrm>
            <a:off x="1371600" y="2377440"/>
            <a:ext cx="94183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600"/>
              </a:spcAft>
            </a:pPr>
            <a:r>
              <a:rPr sz="6600" b="1">
                <a:solidFill>
                  <a:srgbClr val="1B4D8F"/>
                </a:solidFill>
                <a:latin typeface="Cambri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